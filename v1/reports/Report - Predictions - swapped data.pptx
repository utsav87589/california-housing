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7" r:id="rId1"/>
  </p:sldMasterIdLst>
  <p:sldIdLst>
    <p:sldId id="256" r:id="rId2"/>
    <p:sldId id="257" r:id="rId3"/>
    <p:sldId id="258" r:id="rId4"/>
    <p:sldId id="259" r:id="rId5"/>
    <p:sldId id="271" r:id="rId6"/>
    <p:sldId id="262" r:id="rId7"/>
    <p:sldId id="272" r:id="rId8"/>
    <p:sldId id="267" r:id="rId9"/>
    <p:sldId id="264" r:id="rId10"/>
    <p:sldId id="265" r:id="rId11"/>
    <p:sldId id="273" r:id="rId12"/>
    <p:sldId id="274" r:id="rId13"/>
    <p:sldId id="268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C6B0-B189-46ED-A7D6-BAA451706A38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9DAEC9BB-4B5D-4F54-8290-7BA6EE9F40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794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C6B0-B189-46ED-A7D6-BAA451706A38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EC9BB-4B5D-4F54-8290-7BA6EE9F40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573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C6B0-B189-46ED-A7D6-BAA451706A38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9DAEC9BB-4B5D-4F54-8290-7BA6EE9F40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909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C6B0-B189-46ED-A7D6-BAA451706A38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EC9BB-4B5D-4F54-8290-7BA6EE9F40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528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C6B0-B189-46ED-A7D6-BAA451706A38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EC9BB-4B5D-4F54-8290-7BA6EE9F40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7047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C6B0-B189-46ED-A7D6-BAA451706A38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EC9BB-4B5D-4F54-8290-7BA6EE9F40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388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C6B0-B189-46ED-A7D6-BAA451706A38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EC9BB-4B5D-4F54-8290-7BA6EE9F40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78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C6B0-B189-46ED-A7D6-BAA451706A38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EC9BB-4B5D-4F54-8290-7BA6EE9F40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558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C6B0-B189-46ED-A7D6-BAA451706A38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EC9BB-4B5D-4F54-8290-7BA6EE9F40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3596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C6B0-B189-46ED-A7D6-BAA451706A38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9DAEC9BB-4B5D-4F54-8290-7BA6EE9F40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995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C6B0-B189-46ED-A7D6-BAA451706A38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9DAEC9BB-4B5D-4F54-8290-7BA6EE9F40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2171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C6B0-B189-46ED-A7D6-BAA451706A38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9DAEC9BB-4B5D-4F54-8290-7BA6EE9F405A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632034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C6B0-B189-46ED-A7D6-BAA451706A38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9DAEC9BB-4B5D-4F54-8290-7BA6EE9F40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5262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C6B0-B189-46ED-A7D6-BAA451706A38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EC9BB-4B5D-4F54-8290-7BA6EE9F40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8019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C6B0-B189-46ED-A7D6-BAA451706A38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EC9BB-4B5D-4F54-8290-7BA6EE9F40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782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C6B0-B189-46ED-A7D6-BAA451706A38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EC9BB-4B5D-4F54-8290-7BA6EE9F40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9181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A711C6B0-B189-46ED-A7D6-BAA451706A38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9DAEC9BB-4B5D-4F54-8290-7BA6EE9F40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6196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C6B0-B189-46ED-A7D6-BAA451706A38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EC9BB-4B5D-4F54-8290-7BA6EE9F40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588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20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11C6B0-B189-46ED-A7D6-BAA451706A38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AEC9BB-4B5D-4F54-8290-7BA6EE9F40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29165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  <p:sldLayoutId id="2147483713" r:id="rId16"/>
    <p:sldLayoutId id="2147483714" r:id="rId17"/>
    <p:sldLayoutId id="2147483715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2BF570B-E60D-4481-9DA2-BE09A90D1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82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Houses in a subdivision">
            <a:extLst>
              <a:ext uri="{FF2B5EF4-FFF2-40B4-BE49-F238E27FC236}">
                <a16:creationId xmlns:a16="http://schemas.microsoft.com/office/drawing/2014/main" id="{5CC8C17B-B18A-BE28-5A2F-29B0F11DE1F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41000"/>
          </a:blip>
          <a:srcRect t="15730"/>
          <a:stretch>
            <a:fillRect/>
          </a:stretch>
        </p:blipFill>
        <p:spPr>
          <a:xfrm>
            <a:off x="-3176" y="10"/>
            <a:ext cx="12192000" cy="685799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8321F7C-3441-47D4-89EC-F6C7FF3B2A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4249541"/>
            <a:ext cx="8968085" cy="1660332"/>
          </a:xfrm>
          <a:prstGeom prst="rect">
            <a:avLst/>
          </a:prstGeom>
          <a:solidFill>
            <a:schemeClr val="bg1">
              <a:lumMod val="95000"/>
              <a:lumOff val="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A7919B-5CAA-EAE3-CDF1-49D543C1C9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0322" y="4402667"/>
            <a:ext cx="8133478" cy="940240"/>
          </a:xfrm>
        </p:spPr>
        <p:txBody>
          <a:bodyPr>
            <a:normAutofit/>
          </a:bodyPr>
          <a:lstStyle/>
          <a:p>
            <a:r>
              <a:rPr lang="en-US" sz="4800"/>
              <a:t>California Housing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55DBE3-4A69-7251-728C-707DA5301C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0322" y="5342302"/>
            <a:ext cx="8133478" cy="406566"/>
          </a:xfrm>
        </p:spPr>
        <p:txBody>
          <a:bodyPr>
            <a:normAutofit/>
          </a:bodyPr>
          <a:lstStyle/>
          <a:p>
            <a:r>
              <a:rPr lang="en-US" sz="1100"/>
              <a:t>California Housing Dataset : Regression Problem, predictions made for the “median_house_price” using the distance and tree based models.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5FE5F6F-BF7C-44AD-9CEB-0A16A7DAE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11715" y="4249541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0614AF8-278F-429C-8560-C4C711BEE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902314"/>
            <a:ext cx="8968085" cy="275942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975A3A9-46B2-434A-8D1C-E01B8B9DD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11715" y="5902314"/>
            <a:ext cx="3080285" cy="275942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94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1E634-E789-B8D9-55CE-086D8C14D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FE&amp;EDA :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ECB18A-D239-807F-ECA2-07CC255A3A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So, for this dataset, there was only one categorical column, and in it, I used the label encoding because of the nature of the feature, apart from that, I applied some calculations for other feature (which can be found in the cleaned file), then afterwards, I applied the scaler to make the copy of the cleaned dataset for the Distance based models, kept the original copy for the tree based models, with minimalistic FE&amp;EDA.</a:t>
            </a:r>
          </a:p>
          <a:p>
            <a:r>
              <a:rPr lang="en-US" dirty="0"/>
              <a:t>In this file, I used the scaled data for the Tree based models and plain cleaned data for the Distance based models.(swapped the data)</a:t>
            </a:r>
          </a:p>
        </p:txBody>
      </p:sp>
    </p:spTree>
    <p:extLst>
      <p:ext uri="{BB962C8B-B14F-4D97-AF65-F5344CB8AC3E}">
        <p14:creationId xmlns:p14="http://schemas.microsoft.com/office/powerpoint/2010/main" val="23462607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69F4D-71A8-500A-B8F3-761D419ED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Distance based models</a:t>
            </a:r>
          </a:p>
        </p:txBody>
      </p:sp>
    </p:spTree>
    <p:extLst>
      <p:ext uri="{BB962C8B-B14F-4D97-AF65-F5344CB8AC3E}">
        <p14:creationId xmlns:p14="http://schemas.microsoft.com/office/powerpoint/2010/main" val="39205393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9B9C2B48-3899-4B1D-B526-C35DFD16B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B1BCBEC-C5E7-469F-92CF-05506BB6E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A078177-9A72-44C2-BDC1-C1F346162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D1ECADA1-6568-4D5A-A631-CFD8768936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81D3C41-CC87-4DF9-A716-CDF0E23D21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8DCA3673-CDE4-40C5-9FA8-F89874CFBA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824" cy="68580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95756E8F-499C-4533-BBE8-309C3E8D9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76" y="0"/>
            <a:ext cx="12192000" cy="685800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0FFFD040-32A9-4D2B-86CA-599D030A41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63205CA-B7FF-4C25-A4C8-3BBBCE19D9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2" y="609600"/>
            <a:ext cx="4959094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D8FAE8-B17C-403E-2700-0BD6F7860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4136123" cy="108093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/>
              <a:t>Linear Regression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306E3F32-3C1A-4B6E-AF26-8A15A78856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1"/>
            <a:ext cx="4956048" cy="199787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EBFB93-E4B6-B2C0-E9F1-327837CDA2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0321" y="2336873"/>
            <a:ext cx="3656289" cy="3599316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1400" dirty="0"/>
              <a:t>r2_score : 0.3559360129629727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400" dirty="0" err="1"/>
              <a:t>mean_absolute_error</a:t>
            </a:r>
            <a:r>
              <a:rPr lang="en-US" sz="1400" dirty="0"/>
              <a:t> : 52838.02104589945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400" dirty="0" err="1"/>
              <a:t>root_mean_squared_error</a:t>
            </a:r>
            <a:r>
              <a:rPr lang="en-US" sz="1400" dirty="0"/>
              <a:t> : 73438.11200979023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400" dirty="0" err="1"/>
              <a:t>mean_squared_error</a:t>
            </a:r>
            <a:r>
              <a:rPr lang="en-US" sz="1400" dirty="0"/>
              <a:t> : 5393156295.562497</a:t>
            </a:r>
          </a:p>
        </p:txBody>
      </p:sp>
      <p:pic>
        <p:nvPicPr>
          <p:cNvPr id="8" name="Content Placeholder 7" descr="A graph of a graph of a graph&#10;&#10;AI-generated content may be incorrect.">
            <a:extLst>
              <a:ext uri="{FF2B5EF4-FFF2-40B4-BE49-F238E27FC236}">
                <a16:creationId xmlns:a16="http://schemas.microsoft.com/office/drawing/2014/main" id="{47C75DB8-4D15-505E-06C1-BAB9192D4D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5276090" y="1454114"/>
            <a:ext cx="6269479" cy="3949771"/>
          </a:xfrm>
          <a:prstGeom prst="rect">
            <a:avLst/>
          </a:prstGeom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858798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A9B6B3-4F37-6134-6D72-6DEDB1DAF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9B9C2B48-3899-4B1D-B526-C35DFD16B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7B1BCBEC-C5E7-469F-92CF-05506BB6E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2A078177-9A72-44C2-BDC1-C1F346162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D1ECADA1-6568-4D5A-A631-CFD8768936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81D3C41-CC87-4DF9-A716-CDF0E23D21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8DCA3673-CDE4-40C5-9FA8-F89874CFBA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824" cy="68580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95756E8F-499C-4533-BBE8-309C3E8D9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76" y="0"/>
            <a:ext cx="12192000" cy="6858000"/>
          </a:xfrm>
          <a:prstGeom prst="rect">
            <a:avLst/>
          </a:prstGeom>
        </p:spPr>
      </p:pic>
      <p:sp>
        <p:nvSpPr>
          <p:cNvPr id="50" name="Rectangle 49">
            <a:extLst>
              <a:ext uri="{FF2B5EF4-FFF2-40B4-BE49-F238E27FC236}">
                <a16:creationId xmlns:a16="http://schemas.microsoft.com/office/drawing/2014/main" id="{0FFFD040-32A9-4D2B-86CA-599D030A41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63205CA-B7FF-4C25-A4C8-3BBBCE19D9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2" y="609600"/>
            <a:ext cx="4959094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B73AC6-E7DA-37FA-DD72-A9ECCF385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4136123" cy="108093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/>
              <a:t>SVR</a:t>
            </a:r>
            <a:endParaRPr lang="en-US" sz="2400" dirty="0"/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306E3F32-3C1A-4B6E-AF26-8A15A78856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1"/>
            <a:ext cx="4956048" cy="199787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1CFC76-2BA4-D5DD-5508-732A497C07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0321" y="2336873"/>
            <a:ext cx="3656289" cy="3599316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1400"/>
              <a:t>r2_score : -40314492.86177022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400"/>
              <a:t>mean_absolute_error : 87929.4670165661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400"/>
              <a:t>root_mean_squared_error : 117799.26289046017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400"/>
              <a:t>mean_squared_error : 13876666337.535748</a:t>
            </a:r>
            <a:endParaRPr lang="en-US" sz="1400" dirty="0"/>
          </a:p>
        </p:txBody>
      </p:sp>
      <p:pic>
        <p:nvPicPr>
          <p:cNvPr id="7" name="Content Placeholder 6" descr="A blue and red graph&#10;&#10;AI-generated content may be incorrect.">
            <a:extLst>
              <a:ext uri="{FF2B5EF4-FFF2-40B4-BE49-F238E27FC236}">
                <a16:creationId xmlns:a16="http://schemas.microsoft.com/office/drawing/2014/main" id="{7E31EE67-87FD-2856-0F30-1D0CD37B3C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5276090" y="1555993"/>
            <a:ext cx="6269479" cy="3746013"/>
          </a:xfrm>
          <a:prstGeom prst="rect">
            <a:avLst/>
          </a:prstGeom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630467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9B9C2B48-3899-4B1D-B526-C35DFD16B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B1BCBEC-C5E7-469F-92CF-05506BB6E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A078177-9A72-44C2-BDC1-C1F346162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D1ECADA1-6568-4D5A-A631-CFD8768936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81D3C41-CC87-4DF9-A716-CDF0E23D21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A1698906-F123-49CB-B633-247AC4870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824" cy="68580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12AFB628-1D2A-4F5A-8E9E-2C8E917B5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76" y="0"/>
            <a:ext cx="12192000" cy="6858000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5D86D9DA-31E3-48ED-9F77-2D8B649BD4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4C6B320-AA89-4C19-89F7-71D46B26BA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2" y="609600"/>
            <a:ext cx="641286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7E97E5-9ED6-A41D-7236-072FE9F1C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5584677" cy="108093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KNN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4AC1383A-2DFB-422E-8FB2-1CABD96DD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1"/>
            <a:ext cx="6409944" cy="258395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99B03-5703-7BF6-A631-0886A1B513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0321" y="2336873"/>
            <a:ext cx="5104843" cy="3599316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2000"/>
              <a:t>r2_score : 0.5884149768891674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/>
              <a:t>mean_absolute_error : 42860.51401808785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/>
              <a:t>root_mean_squared_error : 62980.90790809215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/>
              <a:t>mean_squared_error : 3966594760.927584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45EE119-0AC6-45BA-AE5E-A86AFE1C7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33163" y="642795"/>
            <a:ext cx="4812406" cy="5575125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76200" dist="63500" dir="5040000" algn="t" rotWithShape="0">
              <a:prstClr val="black">
                <a:alpha val="4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Content Placeholder 9" descr="A red and blue dotted diagram&#10;&#10;AI-generated content may be incorrect.">
            <a:extLst>
              <a:ext uri="{FF2B5EF4-FFF2-40B4-BE49-F238E27FC236}">
                <a16:creationId xmlns:a16="http://schemas.microsoft.com/office/drawing/2014/main" id="{A5ACE4F5-AC33-AB22-EAF4-42EE672724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7043933" y="2177300"/>
            <a:ext cx="4178419" cy="2496605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0887700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5F7D0-C897-AD06-D2BF-81E9ECB04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Probability based : </a:t>
            </a:r>
            <a:r>
              <a:rPr lang="en-US" dirty="0" err="1"/>
              <a:t>Gausian</a:t>
            </a:r>
            <a:r>
              <a:rPr lang="en-US" dirty="0"/>
              <a:t> NB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256D4BE-5AE4-C17D-0364-0FFDD7FC0F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86300" y="2457477"/>
            <a:ext cx="5608638" cy="3357508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F2E7B1-B584-E790-E858-EB5C511D730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r2_score : 0.26755565067832754</a:t>
            </a:r>
          </a:p>
          <a:p>
            <a:r>
              <a:rPr lang="en-US" dirty="0" err="1"/>
              <a:t>mean_absolute_error</a:t>
            </a:r>
            <a:r>
              <a:rPr lang="en-US" dirty="0"/>
              <a:t> : 70636.20655684755</a:t>
            </a:r>
          </a:p>
          <a:p>
            <a:r>
              <a:rPr lang="en-US" dirty="0" err="1"/>
              <a:t>root_mean_squared_error</a:t>
            </a:r>
            <a:r>
              <a:rPr lang="en-US" dirty="0"/>
              <a:t> : 98111.27370368899</a:t>
            </a:r>
          </a:p>
          <a:p>
            <a:r>
              <a:rPr lang="en-US" dirty="0" err="1"/>
              <a:t>mean_squared_error</a:t>
            </a:r>
            <a:r>
              <a:rPr lang="en-US" dirty="0"/>
              <a:t> : 9625822027.760174</a:t>
            </a:r>
          </a:p>
        </p:txBody>
      </p:sp>
    </p:spTree>
    <p:extLst>
      <p:ext uri="{BB962C8B-B14F-4D97-AF65-F5344CB8AC3E}">
        <p14:creationId xmlns:p14="http://schemas.microsoft.com/office/powerpoint/2010/main" val="41602246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4CCF8-A890-A807-566F-BB3322E59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 based models</a:t>
            </a:r>
          </a:p>
        </p:txBody>
      </p:sp>
    </p:spTree>
    <p:extLst>
      <p:ext uri="{BB962C8B-B14F-4D97-AF65-F5344CB8AC3E}">
        <p14:creationId xmlns:p14="http://schemas.microsoft.com/office/powerpoint/2010/main" val="38950047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92AC7A-46A4-CDFC-768C-1112DD3AC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9B9C2B48-3899-4B1D-B526-C35DFD16B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B1BCBEC-C5E7-469F-92CF-05506BB6E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A078177-9A72-44C2-BDC1-C1F346162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D1ECADA1-6568-4D5A-A631-CFD8768936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81D3C41-CC87-4DF9-A716-CDF0E23D21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8DCA3673-CDE4-40C5-9FA8-F89874CFBA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824" cy="68580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95756E8F-499C-4533-BBE8-309C3E8D9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76" y="0"/>
            <a:ext cx="12192000" cy="6858000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0FFFD040-32A9-4D2B-86CA-599D030A41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63205CA-B7FF-4C25-A4C8-3BBBCE19D9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2" y="609600"/>
            <a:ext cx="4959094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FF6A14-C14B-EC77-09BD-A6C056E29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4136123" cy="108093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/>
              <a:t>Decision Tree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306E3F32-3C1A-4B6E-AF26-8A15A78856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1"/>
            <a:ext cx="4956048" cy="199787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EF1314-9753-D89F-D08D-59D1DB7248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0321" y="2336873"/>
            <a:ext cx="3656289" cy="3599316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1400"/>
              <a:t>r2_score : 0.6624676747495832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400"/>
              <a:t>mean_absolute_error : 41795.68071705427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400"/>
              <a:t>root_mean_squared_error : 67006.38385146574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400"/>
              <a:t>mean_squared_error : 4489855476.849968</a:t>
            </a:r>
          </a:p>
        </p:txBody>
      </p:sp>
      <p:pic>
        <p:nvPicPr>
          <p:cNvPr id="7" name="Content Placeholder 6" descr="A blue and red graph&#10;&#10;AI-generated content may be incorrect.">
            <a:extLst>
              <a:ext uri="{FF2B5EF4-FFF2-40B4-BE49-F238E27FC236}">
                <a16:creationId xmlns:a16="http://schemas.microsoft.com/office/drawing/2014/main" id="{0A6C8C2C-B5E2-E8AA-1EAE-5D6CE39C15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5276090" y="1555993"/>
            <a:ext cx="6269479" cy="3746013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3100499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CDA7A4-0011-FF42-3771-AE88E1832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25237-E2A0-19D6-1DA2-074D11A73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1" y="451269"/>
            <a:ext cx="3660056" cy="132537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800" dirty="0"/>
              <a:t>Random Forest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A614EC-8695-BD64-4DC6-58663360C6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95401" y="2493774"/>
            <a:ext cx="3660057" cy="338209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Arial"/>
              <a:buChar char="•"/>
            </a:pPr>
            <a:r>
              <a:rPr lang="en-US" dirty="0">
                <a:solidFill>
                  <a:srgbClr val="262626"/>
                </a:solidFill>
              </a:rPr>
              <a:t>r2_score : 0.7778701710573246</a:t>
            </a:r>
          </a:p>
          <a:p>
            <a:pPr>
              <a:buFont typeface="Arial"/>
              <a:buChar char="•"/>
            </a:pPr>
            <a:r>
              <a:rPr lang="en-US" dirty="0" err="1">
                <a:solidFill>
                  <a:srgbClr val="262626"/>
                </a:solidFill>
              </a:rPr>
              <a:t>mean_absolute_error</a:t>
            </a:r>
            <a:r>
              <a:rPr lang="en-US" dirty="0">
                <a:solidFill>
                  <a:srgbClr val="262626"/>
                </a:solidFill>
              </a:rPr>
              <a:t> : 31377.06202196382</a:t>
            </a:r>
          </a:p>
          <a:p>
            <a:pPr>
              <a:buFont typeface="Arial"/>
              <a:buChar char="•"/>
            </a:pPr>
            <a:r>
              <a:rPr lang="en-US" dirty="0" err="1">
                <a:solidFill>
                  <a:srgbClr val="262626"/>
                </a:solidFill>
              </a:rPr>
              <a:t>root_mean_squared_error</a:t>
            </a:r>
            <a:r>
              <a:rPr lang="en-US" dirty="0">
                <a:solidFill>
                  <a:srgbClr val="262626"/>
                </a:solidFill>
              </a:rPr>
              <a:t> : 48892.42904419067</a:t>
            </a:r>
          </a:p>
          <a:p>
            <a:pPr>
              <a:buFont typeface="Arial"/>
              <a:buChar char="•"/>
            </a:pPr>
            <a:r>
              <a:rPr lang="en-US" dirty="0" err="1">
                <a:solidFill>
                  <a:srgbClr val="262626"/>
                </a:solidFill>
              </a:rPr>
              <a:t>mean_squared_error</a:t>
            </a:r>
            <a:r>
              <a:rPr lang="en-US" dirty="0">
                <a:solidFill>
                  <a:srgbClr val="262626"/>
                </a:solidFill>
              </a:rPr>
              <a:t> : 2390469617.8412194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B324D3D-A18B-1774-36D8-638C2F7341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686300" y="2457477"/>
            <a:ext cx="5608638" cy="3357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9018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E637C5-4EE2-376C-6ED4-6E2A283B1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E9EC0-121B-7AE4-3187-10E3AD949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1" y="451269"/>
            <a:ext cx="3660056" cy="132537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800" dirty="0" err="1"/>
              <a:t>Adaboost</a:t>
            </a:r>
            <a:endParaRPr lang="en-US" sz="28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BC9396-F7DB-6DA1-3DFB-BBE4586FA0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95401" y="2493774"/>
            <a:ext cx="3660057" cy="338209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Arial"/>
              <a:buChar char="•"/>
            </a:pPr>
            <a:r>
              <a:rPr lang="en-US" dirty="0">
                <a:solidFill>
                  <a:srgbClr val="262626"/>
                </a:solidFill>
              </a:rPr>
              <a:t>r2_score : -0.03773480590796119</a:t>
            </a:r>
          </a:p>
          <a:p>
            <a:pPr>
              <a:buFont typeface="Arial"/>
              <a:buChar char="•"/>
            </a:pPr>
            <a:r>
              <a:rPr lang="en-US" dirty="0" err="1">
                <a:solidFill>
                  <a:srgbClr val="262626"/>
                </a:solidFill>
              </a:rPr>
              <a:t>mean_absolute_error</a:t>
            </a:r>
            <a:r>
              <a:rPr lang="en-US" dirty="0">
                <a:solidFill>
                  <a:srgbClr val="262626"/>
                </a:solidFill>
              </a:rPr>
              <a:t> : 64637.05874231369</a:t>
            </a:r>
          </a:p>
          <a:p>
            <a:pPr>
              <a:buFont typeface="Arial"/>
              <a:buChar char="•"/>
            </a:pPr>
            <a:r>
              <a:rPr lang="en-US" dirty="0" err="1">
                <a:solidFill>
                  <a:srgbClr val="262626"/>
                </a:solidFill>
              </a:rPr>
              <a:t>root_mean_squared_error</a:t>
            </a:r>
            <a:r>
              <a:rPr lang="en-US" dirty="0">
                <a:solidFill>
                  <a:srgbClr val="262626"/>
                </a:solidFill>
              </a:rPr>
              <a:t> : 77831.1399634673</a:t>
            </a:r>
          </a:p>
          <a:p>
            <a:pPr>
              <a:buFont typeface="Arial"/>
              <a:buChar char="•"/>
            </a:pPr>
            <a:r>
              <a:rPr lang="en-US" dirty="0" err="1">
                <a:solidFill>
                  <a:srgbClr val="262626"/>
                </a:solidFill>
              </a:rPr>
              <a:t>mean_squared_error</a:t>
            </a:r>
            <a:r>
              <a:rPr lang="en-US" dirty="0">
                <a:solidFill>
                  <a:srgbClr val="262626"/>
                </a:solidFill>
              </a:rPr>
              <a:t> : 6057686348.0128355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A87127A-F75E-AB7B-629B-169CA06BA3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686300" y="2457477"/>
            <a:ext cx="5608638" cy="3357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604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C27D04-8BBC-4229-BC3D-9547D6605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16BDF-D18D-1B4E-447D-8DE15E8E0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1" y="451269"/>
            <a:ext cx="3660056" cy="132537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800" dirty="0"/>
              <a:t>Gradient Boost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B02F80-E868-9433-CC51-60E7F165AD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95401" y="2493774"/>
            <a:ext cx="3660057" cy="338209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Arial"/>
              <a:buChar char="•"/>
            </a:pPr>
            <a:r>
              <a:rPr lang="en-US" dirty="0">
                <a:solidFill>
                  <a:srgbClr val="262626"/>
                </a:solidFill>
              </a:rPr>
              <a:t>r2_score : 0.6990427716661751</a:t>
            </a:r>
          </a:p>
          <a:p>
            <a:pPr>
              <a:buFont typeface="Arial"/>
              <a:buChar char="•"/>
            </a:pPr>
            <a:r>
              <a:rPr lang="en-US" dirty="0" err="1">
                <a:solidFill>
                  <a:srgbClr val="262626"/>
                </a:solidFill>
              </a:rPr>
              <a:t>mean_absolute_error</a:t>
            </a:r>
            <a:r>
              <a:rPr lang="en-US" dirty="0">
                <a:solidFill>
                  <a:srgbClr val="262626"/>
                </a:solidFill>
              </a:rPr>
              <a:t> : 37823.28012990093</a:t>
            </a:r>
          </a:p>
          <a:p>
            <a:pPr>
              <a:buFont typeface="Arial"/>
              <a:buChar char="•"/>
            </a:pPr>
            <a:r>
              <a:rPr lang="en-US" dirty="0" err="1">
                <a:solidFill>
                  <a:srgbClr val="262626"/>
                </a:solidFill>
              </a:rPr>
              <a:t>root_mean_squared_error</a:t>
            </a:r>
            <a:r>
              <a:rPr lang="en-US" dirty="0">
                <a:solidFill>
                  <a:srgbClr val="262626"/>
                </a:solidFill>
              </a:rPr>
              <a:t> : 54641.14118848144</a:t>
            </a:r>
          </a:p>
          <a:p>
            <a:pPr>
              <a:buFont typeface="Arial"/>
              <a:buChar char="•"/>
            </a:pPr>
            <a:r>
              <a:rPr lang="en-US" dirty="0" err="1">
                <a:solidFill>
                  <a:srgbClr val="262626"/>
                </a:solidFill>
              </a:rPr>
              <a:t>mean_squared_error</a:t>
            </a:r>
            <a:r>
              <a:rPr lang="en-US" dirty="0">
                <a:solidFill>
                  <a:srgbClr val="262626"/>
                </a:solidFill>
              </a:rPr>
              <a:t> : 2985654310.379563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D4C6CA7A-85D0-8503-0DAB-6EC2BF84E3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686300" y="2457477"/>
            <a:ext cx="5608638" cy="3357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2958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321718-C993-427C-AC70-7E79E3D24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4A7E8-EDA9-68E3-0EF0-87460F711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9141" y="707295"/>
            <a:ext cx="2835464" cy="125486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800" dirty="0"/>
              <a:t>DL : ANN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EB9233-78C6-E736-3ED5-A35DF3ECFA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29141" y="2430471"/>
            <a:ext cx="2835464" cy="3552039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>
              <a:buFont typeface="Arial"/>
              <a:buChar char="•"/>
            </a:pPr>
            <a:r>
              <a:rPr lang="en-US" sz="1800" dirty="0"/>
              <a:t>r2_score : 0.6448958574590412</a:t>
            </a:r>
          </a:p>
          <a:p>
            <a:pPr algn="l">
              <a:buFont typeface="Arial"/>
              <a:buChar char="•"/>
            </a:pPr>
            <a:r>
              <a:rPr lang="en-US" sz="1800" dirty="0" err="1"/>
              <a:t>mean_absolute_error</a:t>
            </a:r>
            <a:r>
              <a:rPr lang="en-US" sz="1800" dirty="0"/>
              <a:t> : 47085.24364982033</a:t>
            </a:r>
          </a:p>
          <a:p>
            <a:pPr algn="l">
              <a:buFont typeface="Arial"/>
              <a:buChar char="•"/>
            </a:pPr>
            <a:r>
              <a:rPr lang="en-US" sz="1800" dirty="0" err="1"/>
              <a:t>root_mean_squared_error</a:t>
            </a:r>
            <a:r>
              <a:rPr lang="en-US" sz="1800" dirty="0"/>
              <a:t> : 68270.66936363371</a:t>
            </a:r>
          </a:p>
          <a:p>
            <a:pPr algn="l">
              <a:buFont typeface="Arial"/>
              <a:buChar char="•"/>
            </a:pPr>
            <a:r>
              <a:rPr lang="en-US" sz="1800" dirty="0" err="1"/>
              <a:t>mean_squared_error</a:t>
            </a:r>
            <a:r>
              <a:rPr lang="en-US" sz="1800" dirty="0"/>
              <a:t> : 4660884295.358595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C66BC6C-5BA0-020D-A53F-549BC9AB05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86299" y="2262946"/>
            <a:ext cx="5863713" cy="3719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7476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DD4BD-B027-F554-61B4-DB65ECAD1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Thanks for watching.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51C65B-769B-1CA5-6602-E4043DAF1A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Made by : Utsav,</a:t>
            </a:r>
          </a:p>
          <a:p>
            <a:r>
              <a:rPr lang="en-US" dirty="0" err="1"/>
              <a:t>Github</a:t>
            </a:r>
            <a:r>
              <a:rPr lang="en-US" dirty="0"/>
              <a:t> : utsav87589</a:t>
            </a:r>
          </a:p>
        </p:txBody>
      </p:sp>
    </p:spTree>
    <p:extLst>
      <p:ext uri="{BB962C8B-B14F-4D97-AF65-F5344CB8AC3E}">
        <p14:creationId xmlns:p14="http://schemas.microsoft.com/office/powerpoint/2010/main" val="3638569620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1F8094"/>
      </a:dk2>
      <a:lt2>
        <a:srgbClr val="E7E6E6"/>
      </a:lt2>
      <a:accent1>
        <a:srgbClr val="39CDE7"/>
      </a:accent1>
      <a:accent2>
        <a:srgbClr val="60DE72"/>
      </a:accent2>
      <a:accent3>
        <a:srgbClr val="DDCC64"/>
      </a:accent3>
      <a:accent4>
        <a:srgbClr val="F49D50"/>
      </a:accent4>
      <a:accent5>
        <a:srgbClr val="E44951"/>
      </a:accent5>
      <a:accent6>
        <a:srgbClr val="D666F9"/>
      </a:accent6>
      <a:hlink>
        <a:srgbClr val="4BF7ED"/>
      </a:hlink>
      <a:folHlink>
        <a:srgbClr val="95E9F4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7DC10E3-4FF5-456B-A359-A0F378C1E5F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Berlin</Template>
  <TotalTime>33</TotalTime>
  <Words>440</Words>
  <Application>Microsoft Office PowerPoint</Application>
  <PresentationFormat>Widescreen</PresentationFormat>
  <Paragraphs>55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Trebuchet MS</vt:lpstr>
      <vt:lpstr>Berlin</vt:lpstr>
      <vt:lpstr>California Housing</vt:lpstr>
      <vt:lpstr>FE&amp;EDA : Approach</vt:lpstr>
      <vt:lpstr>Distance based models</vt:lpstr>
      <vt:lpstr>Linear Regression</vt:lpstr>
      <vt:lpstr>SVR</vt:lpstr>
      <vt:lpstr>KNN</vt:lpstr>
      <vt:lpstr>Probability based : Gausian NB</vt:lpstr>
      <vt:lpstr>Tree based models</vt:lpstr>
      <vt:lpstr>Decision Tree</vt:lpstr>
      <vt:lpstr>Random Forest</vt:lpstr>
      <vt:lpstr>Adaboost</vt:lpstr>
      <vt:lpstr>Gradient Boost</vt:lpstr>
      <vt:lpstr>DL : ANN</vt:lpstr>
      <vt:lpstr>Thanks for watching.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Utsav Kundu</dc:creator>
  <cp:lastModifiedBy>Utsav Kundu</cp:lastModifiedBy>
  <cp:revision>67</cp:revision>
  <dcterms:created xsi:type="dcterms:W3CDTF">2025-11-02T16:32:34Z</dcterms:created>
  <dcterms:modified xsi:type="dcterms:W3CDTF">2025-11-02T17:07:36Z</dcterms:modified>
</cp:coreProperties>
</file>